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A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194560"/>
            <a:ext cx="5943600" cy="594360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3" name="Shape 1"/>
          <p:cNvSpPr/>
          <p:nvPr/>
        </p:nvSpPr>
        <p:spPr>
          <a:xfrm>
            <a:off x="9814255" y="3749040"/>
            <a:ext cx="3840480" cy="3840480"/>
          </a:xfrm>
          <a:prstGeom prst="ellipse">
            <a:avLst/>
          </a:prstGeom>
          <a:ln w="19050">
            <a:solidFill>
              <a:srgbClr val="F2A9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640080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78748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6583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АО «НУХ «Байтерек»  ·  ЕППБ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46888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портал поддержки бизнеса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37947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цифровой платформы на базе универсального no-code/low-code конструктора услуг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Конкурс AstanaHub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барьер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сегодняшний путь предпринимателя устроен неудобно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6F8FB"/>
          </a:solidFill>
          <a:ln/>
          <a:effectLst>
            <a:outerShdw sx="100000" sy="100000" kx="0" ky="0" algn="bl" rotWithShape="0" blurRad="101600" dist="38100" dir="5400000">
              <a:srgbClr val="10182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30552"/>
            <a:ext cx="566928" cy="566928"/>
          </a:xfrm>
          <a:prstGeom prst="ellipse">
            <a:avLst/>
          </a:prstGeom>
          <a:solidFill>
            <a:srgbClr val="0B3D9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227795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939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Меры поддержки разбросаны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44144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Услуги Холдинга и дочерних организаций живут на разных сайтах и в разных цифровых сервисах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187452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6F8FB"/>
          </a:solidFill>
          <a:ln/>
          <a:effectLst>
            <a:outerShdw sx="100000" sy="100000" kx="0" ky="0" algn="bl" rotWithShape="0" blurRad="101600" dist="38100" dir="5400000">
              <a:srgbClr val="10182B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130552"/>
            <a:ext cx="566928" cy="566928"/>
          </a:xfrm>
          <a:prstGeom prst="ellipse">
            <a:avLst/>
          </a:prstGeom>
          <a:solidFill>
            <a:srgbClr val="0B3D9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81" y="227795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0939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Повторный ввод данных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60920" y="244144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Предприниматель каждый раз заново ищет нужную меру, разбирается в условиях и вводит одни и те же данные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79476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6F8FB"/>
          </a:solidFill>
          <a:ln/>
          <a:effectLst>
            <a:outerShdw sx="100000" sy="100000" kx="0" ky="0" algn="bl" rotWithShape="0" blurRad="101600" dist="38100" dir="5400000">
              <a:srgbClr val="10182B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050792"/>
            <a:ext cx="566928" cy="566928"/>
          </a:xfrm>
          <a:prstGeom prst="ellipse">
            <a:avLst/>
          </a:prstGeom>
          <a:solidFill>
            <a:srgbClr val="0B3D9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01" y="4198193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0142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Перегруженные формы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91640" y="436168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Анкеты на 40+ полей без группировки, подсказок и логики — низкий UX для заявителя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09360" y="379476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6F8FB"/>
          </a:solidFill>
          <a:ln/>
          <a:effectLst>
            <a:outerShdw sx="100000" sy="100000" kx="0" ky="0" algn="bl" rotWithShape="0" blurRad="101600" dist="38100" dir="5400000">
              <a:srgbClr val="10182B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4050792"/>
            <a:ext cx="566928" cy="566928"/>
          </a:xfrm>
          <a:prstGeom prst="ellipse">
            <a:avLst/>
          </a:prstGeom>
          <a:solidFill>
            <a:srgbClr val="0B3D9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81" y="4198193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0142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под каждую меру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60920" y="436168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новая мера поддержки сегодня требует отдельного цикла разработки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ЕППБ  ·  AstanaHub 2026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2A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 решения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Услуга — это данные,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не код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отдельная электронная услуга, а масштабируемая платформа-конструктор — она позволяет быстро запускать и изменять услуги без отдельной разработки под каждую меру поддержки.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97764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0B3D91"/>
          </a:solidFill>
          <a:ln/>
        </p:spPr>
      </p:sp>
      <p:sp>
        <p:nvSpPr>
          <p:cNvPr id="7" name="Shape 5"/>
          <p:cNvSpPr/>
          <p:nvPr/>
        </p:nvSpPr>
        <p:spPr>
          <a:xfrm>
            <a:off x="1783080" y="4251960"/>
            <a:ext cx="548640" cy="54864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5726" y="4394606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4983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Собирать анкеты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5394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C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Бизнес-аналитик сам создаёт этапы, шаги и поля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566160" y="397764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0B3D91"/>
          </a:solidFill>
          <a:ln/>
        </p:spPr>
      </p:sp>
      <p:sp>
        <p:nvSpPr>
          <p:cNvPr id="12" name="Shape 9"/>
          <p:cNvSpPr/>
          <p:nvPr/>
        </p:nvSpPr>
        <p:spPr>
          <a:xfrm>
            <a:off x="4617720" y="4251960"/>
            <a:ext cx="548640" cy="54864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366" y="439460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03320" y="4983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Настраивать ветвление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703320" y="5394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C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Условная логика показа полей и документов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400800" y="397764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0B3D91"/>
          </a:solidFill>
          <a:ln/>
        </p:spPr>
      </p:sp>
      <p:sp>
        <p:nvSpPr>
          <p:cNvPr id="17" name="Shape 13"/>
          <p:cNvSpPr/>
          <p:nvPr/>
        </p:nvSpPr>
        <p:spPr>
          <a:xfrm>
            <a:off x="7452360" y="4251960"/>
            <a:ext cx="548640" cy="54864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5006" y="439460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37960" y="4983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Считать автоматически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537960" y="5394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C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Формулы над полями без участия разработчика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9235440" y="397764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0B3D91"/>
          </a:solidFill>
          <a:ln/>
        </p:spPr>
      </p:sp>
      <p:sp>
        <p:nvSpPr>
          <p:cNvPr id="22" name="Shape 17"/>
          <p:cNvSpPr/>
          <p:nvPr/>
        </p:nvSpPr>
        <p:spPr>
          <a:xfrm>
            <a:off x="10287000" y="4251960"/>
            <a:ext cx="548640" cy="54864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9646" y="4394606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72600" y="4983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Публиковать без разработки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372600" y="5394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C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Черновик → публикация услуги за минуты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ЕППБ  ·  AstanaHub 2026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Архитектурный подход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схема данных — два движка рендеринга (клиент и админ)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63040" y="1783080"/>
            <a:ext cx="9265615" cy="749808"/>
          </a:xfrm>
          <a:prstGeom prst="roundRect">
            <a:avLst>
              <a:gd name="adj" fmla="val 8537"/>
            </a:avLst>
          </a:prstGeom>
          <a:solidFill>
            <a:srgbClr val="0B3D91"/>
          </a:solidFill>
          <a:ln/>
          <a:effectLst>
            <a:outerShdw sx="100000" sy="100000" kx="0" ky="0" algn="bl" rotWithShape="0" blurRad="101600" dist="38100" dir="5400000">
              <a:srgbClr val="10182B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783080" y="1856232"/>
            <a:ext cx="8625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Клиентский контур  ·  Административный контур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783080" y="2148840"/>
            <a:ext cx="8625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главная, каталог, визард, кабинет  /  конструктор, заявки, справочники, интеграции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9544" y="245059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5622" y="2526670"/>
            <a:ext cx="140452" cy="14045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463040" y="2660904"/>
            <a:ext cx="9265615" cy="749808"/>
          </a:xfrm>
          <a:prstGeom prst="roundRect">
            <a:avLst>
              <a:gd name="adj" fmla="val 8537"/>
            </a:avLst>
          </a:prstGeom>
          <a:solidFill>
            <a:srgbClr val="082A66"/>
          </a:solidFill>
          <a:ln/>
          <a:effectLst>
            <a:outerShdw sx="100000" sy="100000" kx="0" ky="0" algn="bl" rotWithShape="0" blurRad="101600" dist="38100" dir="5400000">
              <a:srgbClr val="10182B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783080" y="2734056"/>
            <a:ext cx="8625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783080" y="3026664"/>
            <a:ext cx="8625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 показа полей (JSON)  +  расчётные формулы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949544" y="332841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622" y="3404494"/>
            <a:ext cx="140452" cy="14045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463040" y="3538728"/>
            <a:ext cx="9265615" cy="749808"/>
          </a:xfrm>
          <a:prstGeom prst="roundRect">
            <a:avLst>
              <a:gd name="adj" fmla="val 8537"/>
            </a:avLst>
          </a:prstGeom>
          <a:solidFill>
            <a:srgbClr val="0B3D91"/>
          </a:solidFill>
          <a:ln/>
          <a:effectLst>
            <a:outerShdw sx="100000" sy="100000" kx="0" ky="0" algn="bl" rotWithShape="0" blurRad="101600" dist="38100" dir="5400000">
              <a:srgbClr val="10182B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1783080" y="3611880"/>
            <a:ext cx="8625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App Router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783080" y="3904488"/>
            <a:ext cx="8625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страницы + API-роуты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949544" y="420624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622" y="4282318"/>
            <a:ext cx="140452" cy="14045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1463040" y="4416552"/>
            <a:ext cx="9265615" cy="749808"/>
          </a:xfrm>
          <a:prstGeom prst="roundRect">
            <a:avLst>
              <a:gd name="adj" fmla="val 8537"/>
            </a:avLst>
          </a:prstGeom>
          <a:solidFill>
            <a:srgbClr val="082A66"/>
          </a:solidFill>
          <a:ln/>
          <a:effectLst>
            <a:outerShdw sx="100000" sy="100000" kx="0" ky="0" algn="bl" rotWithShape="0" blurRad="101600" dist="38100" dir="5400000">
              <a:srgbClr val="10182B">
                <a:alpha val="1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1783080" y="4489704"/>
            <a:ext cx="8625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 →  БД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783080" y="4782312"/>
            <a:ext cx="8625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в MVP, управляемая СУБД в продуктиве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949544" y="5084064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622" y="5160142"/>
            <a:ext cx="140452" cy="14045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1463040" y="5294376"/>
            <a:ext cx="9265615" cy="749808"/>
          </a:xfrm>
          <a:prstGeom prst="roundRect">
            <a:avLst>
              <a:gd name="adj" fmla="val 8537"/>
            </a:avLst>
          </a:prstGeom>
          <a:solidFill>
            <a:srgbClr val="0B3D91"/>
          </a:solidFill>
          <a:ln/>
          <a:effectLst>
            <a:outerShdw sx="100000" sy="100000" kx="0" ky="0" algn="bl" rotWithShape="0" blurRad="101600" dist="38100" dir="5400000">
              <a:srgbClr val="10182B">
                <a:alpha val="10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1783080" y="5367528"/>
            <a:ext cx="8625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Интеграционный слой (mock)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783080" y="5660136"/>
            <a:ext cx="8625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eGov IDP · ГБД ИИН/БИН · ЭЦП · BPM дочерних организаций · уведомления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1463040" y="6217920"/>
            <a:ext cx="9265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услуга = запись в БД, не новый код и не деплой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ЕППБ  ·  AstanaHub 2026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страница и первый экран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 в клиентский путь, а не формальная информационная страница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894783" y="1618488"/>
            <a:ext cx="6821424" cy="4318254"/>
          </a:xfrm>
          <a:prstGeom prst="roundRect">
            <a:avLst>
              <a:gd name="adj" fmla="val 1271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5400000">
              <a:srgbClr val="10182B">
                <a:alpha val="10000"/>
              </a:srgbClr>
            </a:outerShdw>
          </a:effectLst>
        </p:spPr>
      </p:sp>
      <p:pic>
        <p:nvPicPr>
          <p:cNvPr id="5" name="Image 0" descr="[object Object]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7935" y="1691640"/>
            <a:ext cx="6675120" cy="41719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28800"/>
            <a:ext cx="414497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первого экрана понятно, что за портал и с чего начать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Поиск, каталог и категории направлений поддержки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AI-помощник для подбора меры поддержки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переход в личный кабинет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ЕППБ  ·  AstanaHub 2026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и карточка услуги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Прозрачный путь от поиска меры поддержки до подачи заявки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" y="1801368"/>
            <a:ext cx="5358384" cy="3403854"/>
          </a:xfrm>
          <a:prstGeom prst="roundRect">
            <a:avLst>
              <a:gd name="adj" fmla="val 1612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5400000">
              <a:srgbClr val="10182B">
                <a:alpha val="10000"/>
              </a:srgbClr>
            </a:outerShdw>
          </a:effectLst>
        </p:spPr>
      </p:sp>
      <p:pic>
        <p:nvPicPr>
          <p:cNvPr id="5" name="Image 0" descr="[object Object]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5212080" cy="32575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07608" y="1801368"/>
            <a:ext cx="5358384" cy="3403854"/>
          </a:xfrm>
          <a:prstGeom prst="roundRect">
            <a:avLst>
              <a:gd name="adj" fmla="val 1612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5400000">
              <a:srgbClr val="10182B">
                <a:alpha val="10000"/>
              </a:srgbClr>
            </a:outerShdw>
          </a:effectLst>
        </p:spPr>
      </p:sp>
      <p:pic>
        <p:nvPicPr>
          <p:cNvPr id="7" name="Image 1" descr="[object Object]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874520"/>
            <a:ext cx="5212080" cy="32575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45211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Поиск, фильтры по категориям и организациям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Многоэтапные услуги отмечены явно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показывает шаги и число документов заранее — без сюрпризов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ЕППБ  ·  AstanaHub 2026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конструктор услуг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элемент платформы — собирает форму бизнес-аналитик, а не разработчик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620463" y="1618488"/>
            <a:ext cx="7095744" cy="4489704"/>
          </a:xfrm>
          <a:prstGeom prst="roundRect">
            <a:avLst>
              <a:gd name="adj" fmla="val 1222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5400000">
              <a:srgbClr val="10182B">
                <a:alpha val="10000"/>
              </a:srgbClr>
            </a:outerShdw>
          </a:effectLst>
        </p:spPr>
      </p:sp>
      <p:pic>
        <p:nvPicPr>
          <p:cNvPr id="5" name="Image 0" descr="[object Object]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3615" y="1691640"/>
            <a:ext cx="6949440" cy="4343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28800"/>
            <a:ext cx="387065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Этапы → шаги → поля собираются визуально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 ветвления: поле показывается по условию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Автоматические расчёты — формулы над полями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Справочники подключаются к полю за один клик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генерирует черновик структуры по описанию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ЕППБ  ·  AstanaHub 2026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Пошаговый визард подачи заявки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же схема из конструктора — глазами предпринимателя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" y="1801368"/>
            <a:ext cx="5358384" cy="3403854"/>
          </a:xfrm>
          <a:prstGeom prst="roundRect">
            <a:avLst>
              <a:gd name="adj" fmla="val 1612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5400000">
              <a:srgbClr val="10182B">
                <a:alpha val="10000"/>
              </a:srgbClr>
            </a:outerShdw>
          </a:effectLst>
        </p:spPr>
      </p:sp>
      <p:pic>
        <p:nvPicPr>
          <p:cNvPr id="5" name="Image 0" descr="[object Object]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5212080" cy="32575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07608" y="1801368"/>
            <a:ext cx="5358384" cy="3403854"/>
          </a:xfrm>
          <a:prstGeom prst="roundRect">
            <a:avLst>
              <a:gd name="adj" fmla="val 1612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5400000">
              <a:srgbClr val="10182B">
                <a:alpha val="10000"/>
              </a:srgbClr>
            </a:outerShdw>
          </a:effectLst>
        </p:spPr>
      </p:sp>
      <p:pic>
        <p:nvPicPr>
          <p:cNvPr id="7" name="Image 1" descr="[object Object]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874520"/>
            <a:ext cx="5212080" cy="32575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40639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Предзаполнение данных по БИН (mock eGov IDP)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Автоматический расчёт итоговой стоимости, аванса и платежа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Условные документы (например, бизнес-план — только для крупных партий)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проверяет полноту заявки перед отправкой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ЕППБ  ·  AstanaHub 2026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Личный кабинет предпринимателя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Сопровождение заявки после подачи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894783" y="1618488"/>
            <a:ext cx="6821424" cy="4318254"/>
          </a:xfrm>
          <a:prstGeom prst="roundRect">
            <a:avLst>
              <a:gd name="adj" fmla="val 1271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5400000">
              <a:srgbClr val="10182B">
                <a:alpha val="10000"/>
              </a:srgbClr>
            </a:outerShdw>
          </a:effectLst>
        </p:spPr>
      </p:sp>
      <p:pic>
        <p:nvPicPr>
          <p:cNvPr id="5" name="Image 0" descr="[object Object]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7935" y="1691640"/>
            <a:ext cx="6675120" cy="41719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28800"/>
            <a:ext cx="414497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заявок и их статусы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 и история рассмотрения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 о смене статуса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расширенных данных на втором этапе услуги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ЕППБ  ·  AstanaHub 2026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2A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AI-компонент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Практическая польза, а не факт наличия AI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0B3D9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082A6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9595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68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 услуги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77063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C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свободному описанию задачи предпринимателя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0B3D91"/>
          </a:solidFill>
          <a:ln/>
        </p:spPr>
      </p:sp>
      <p:sp>
        <p:nvSpPr>
          <p:cNvPr id="10" name="Shape 7"/>
          <p:cNvSpPr/>
          <p:nvPr/>
        </p:nvSpPr>
        <p:spPr>
          <a:xfrm>
            <a:off x="4526280" y="1828800"/>
            <a:ext cx="502920" cy="502920"/>
          </a:xfrm>
          <a:prstGeom prst="ellipse">
            <a:avLst/>
          </a:prstGeom>
          <a:solidFill>
            <a:srgbClr val="082A6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039" y="19595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468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Простой язык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26280" y="277063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C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Объясняет условия услуги без бюрократических терминов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0B3D91"/>
          </a:solidFill>
          <a:ln/>
        </p:spPr>
      </p:sp>
      <p:sp>
        <p:nvSpPr>
          <p:cNvPr id="15" name="Shape 11"/>
          <p:cNvSpPr/>
          <p:nvPr/>
        </p:nvSpPr>
        <p:spPr>
          <a:xfrm>
            <a:off x="8275320" y="1828800"/>
            <a:ext cx="502920" cy="502920"/>
          </a:xfrm>
          <a:prstGeom prst="ellipse">
            <a:avLst/>
          </a:prstGeom>
          <a:solidFill>
            <a:srgbClr val="082A6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079" y="195955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468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полноты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75320" y="277063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C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Находит незаполненные и некорректные поля перед отправкой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0B3D91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rgbClr val="082A6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415411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663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Помощь автору услуги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496519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C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Генерирует черновик структуры формы по описанию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97680" y="37947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0B3D91"/>
          </a:solidFill>
          <a:ln/>
        </p:spPr>
      </p:sp>
      <p:sp>
        <p:nvSpPr>
          <p:cNvPr id="25" name="Shape 19"/>
          <p:cNvSpPr/>
          <p:nvPr/>
        </p:nvSpPr>
        <p:spPr>
          <a:xfrm>
            <a:off x="4526280" y="4023360"/>
            <a:ext cx="502920" cy="502920"/>
          </a:xfrm>
          <a:prstGeom prst="ellipse">
            <a:avLst/>
          </a:prstGeom>
          <a:solidFill>
            <a:srgbClr val="082A6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039" y="415411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4663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без ключей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26280" y="496519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C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движок — стабилен на любом стенде, без сети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46720" y="37947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0B3D91"/>
          </a:solidFill>
          <a:ln/>
        </p:spPr>
      </p:sp>
      <p:sp>
        <p:nvSpPr>
          <p:cNvPr id="30" name="Shape 23"/>
          <p:cNvSpPr/>
          <p:nvPr/>
        </p:nvSpPr>
        <p:spPr>
          <a:xfrm>
            <a:off x="8275320" y="4023360"/>
            <a:ext cx="502920" cy="502920"/>
          </a:xfrm>
          <a:prstGeom prst="ellipse">
            <a:avLst/>
          </a:prstGeom>
          <a:solidFill>
            <a:srgbClr val="082A6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6079" y="415411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75320" y="4663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к LLM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275320" y="496519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C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заменяем на реальную языковую модель без изменения вызывающего кода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ЕППБ  ·  AstanaHub 2026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Аналитическая отчетность дочерних организаций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точка доступа к готовым отчетам и дашбордам ДО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894783" y="1618488"/>
            <a:ext cx="6821424" cy="4318254"/>
          </a:xfrm>
          <a:prstGeom prst="roundRect">
            <a:avLst>
              <a:gd name="adj" fmla="val 1271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5400000">
              <a:srgbClr val="10182B">
                <a:alpha val="10000"/>
              </a:srgbClr>
            </a:outerShdw>
          </a:effectLst>
        </p:spPr>
      </p:sp>
      <p:pic>
        <p:nvPicPr>
          <p:cNvPr id="5" name="Image 0" descr="[object Object]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7935" y="1691640"/>
            <a:ext cx="6675120" cy="41719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28800"/>
            <a:ext cx="414497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материалов: порталы, отчеты, финансовая отчетность, дашборды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с источником и периодом актуальности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 к embedding — переход или встраивание внешнего ресурса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ЕППБ  ·  AstanaHub 2026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Интерактивная карта проектов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Проекты, профинансированные группой Холдинга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620463" y="1618488"/>
            <a:ext cx="7095744" cy="4489704"/>
          </a:xfrm>
          <a:prstGeom prst="roundRect">
            <a:avLst>
              <a:gd name="adj" fmla="val 1222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5400000">
              <a:srgbClr val="10182B">
                <a:alpha val="10000"/>
              </a:srgbClr>
            </a:outerShdw>
          </a:effectLst>
        </p:spPr>
      </p:sp>
      <p:pic>
        <p:nvPicPr>
          <p:cNvPr id="5" name="Image 0" descr="[object Object]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3615" y="1691640"/>
            <a:ext cx="6949440" cy="4343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28800"/>
            <a:ext cx="387065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Привязка к региону, отрасли и статусу реализации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Фильтры по организации, региону, отрасли, статусу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проекта по клику: сумма, период, описание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проектов по регионам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ЕППБ  ·  AstanaHub 2026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 для развития бизнеса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Раздел, сопровождающий предпринимателя на разных этапах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894783" y="1618488"/>
            <a:ext cx="6821424" cy="4318254"/>
          </a:xfrm>
          <a:prstGeom prst="roundRect">
            <a:avLst>
              <a:gd name="adj" fmla="val 1271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101600" dist="38100" dir="5400000">
              <a:srgbClr val="10182B">
                <a:alpha val="10000"/>
              </a:srgbClr>
            </a:outerShdw>
          </a:effectLst>
        </p:spPr>
      </p:sp>
      <p:pic>
        <p:nvPicPr>
          <p:cNvPr id="5" name="Image 0" descr="[object Object]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7935" y="1691640"/>
            <a:ext cx="6675120" cy="41719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28800"/>
            <a:ext cx="414497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знаний, обучающие и справочные материалы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Шаблоны документов и чек-листы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Калькуляторы лизинга и субсидий — та же логика расчёта, что в конструкторе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ЕППБ  ·  AstanaHub 2026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Контрольный кейс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 услуги собраны только через конструктор — без кода под каждую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12080" cy="4023360"/>
          </a:xfrm>
          <a:prstGeom prst="roundRect">
            <a:avLst>
              <a:gd name="adj" fmla="val 2045"/>
            </a:avLst>
          </a:prstGeom>
          <a:solidFill>
            <a:srgbClr val="F6F8FB"/>
          </a:solidFill>
          <a:ln/>
          <a:effectLst>
            <a:outerShdw sx="100000" sy="100000" kx="0" ky="0" algn="bl" rotWithShape="0" blurRad="101600" dist="38100" dir="5400000">
              <a:srgbClr val="10182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640080" cy="640080"/>
          </a:xfrm>
          <a:prstGeom prst="ellipse">
            <a:avLst/>
          </a:prstGeom>
          <a:solidFill>
            <a:srgbClr val="0B3D9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23609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0" y="2286000"/>
            <a:ext cx="914400" cy="365760"/>
          </a:xfrm>
          <a:prstGeom prst="rect">
            <a:avLst/>
          </a:prstGeom>
          <a:solidFill>
            <a:srgbClr val="F2A9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БРК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60120" y="2971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Приобретение вагонов в лизинг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60120" y="370332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этапа: первичная заявка + расширенные данные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шагов, расчёт стоимости, аванса и платежа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Условные документы (бизнес-план, нерезидент)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1874520"/>
            <a:ext cx="5212080" cy="4023360"/>
          </a:xfrm>
          <a:prstGeom prst="roundRect">
            <a:avLst>
              <a:gd name="adj" fmla="val 2045"/>
            </a:avLst>
          </a:prstGeom>
          <a:solidFill>
            <a:srgbClr val="F6F8FB"/>
          </a:solidFill>
          <a:ln/>
          <a:effectLst>
            <a:outerShdw sx="100000" sy="100000" kx="0" ky="0" algn="bl" rotWithShape="0" blurRad="101600" dist="38100" dir="5400000">
              <a:srgbClr val="10182B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29400" y="2194560"/>
            <a:ext cx="640080" cy="640080"/>
          </a:xfrm>
          <a:prstGeom prst="ellipse">
            <a:avLst/>
          </a:prstGeom>
          <a:solidFill>
            <a:srgbClr val="0B3D9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821" y="236098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241280" y="2286000"/>
            <a:ext cx="914400" cy="365760"/>
          </a:xfrm>
          <a:prstGeom prst="rect">
            <a:avLst/>
          </a:prstGeom>
          <a:solidFill>
            <a:srgbClr val="F2A9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АКК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629400" y="2971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Субсидирование животноводства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6629400" y="370332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этапа, справочники регионов и видов скота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Автоматический расчёт суммы субсидии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Условный документ (ветеринарная справка)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ЕППБ  ·  AstanaHub 2026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2A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Масштабируемость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70+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 поддержки без переписывания кода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846320" y="960120"/>
            <a:ext cx="502920" cy="502920"/>
          </a:xfrm>
          <a:prstGeom prst="ellipse">
            <a:avLst/>
          </a:prstGeom>
          <a:solidFill>
            <a:srgbClr val="0B3D9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7079" y="109087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32120" y="932688"/>
            <a:ext cx="6019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услуга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532120" y="1234440"/>
            <a:ext cx="6019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C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запись в БД, не новый код и не деплой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846320" y="1965960"/>
            <a:ext cx="502920" cy="502920"/>
          </a:xfrm>
          <a:prstGeom prst="ellipse">
            <a:avLst/>
          </a:prstGeom>
          <a:solidFill>
            <a:srgbClr val="0B3D9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079" y="209671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32120" y="1938528"/>
            <a:ext cx="6019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дочерняя организация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532120" y="2240280"/>
            <a:ext cx="6019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C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запись Organization, доступна каталогу, карте и аналитике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846320" y="2971800"/>
            <a:ext cx="502920" cy="502920"/>
          </a:xfrm>
          <a:prstGeom prst="ellipse">
            <a:avLst/>
          </a:prstGeom>
          <a:solidFill>
            <a:srgbClr val="0B3D9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079" y="3102559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32120" y="2944368"/>
            <a:ext cx="6019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справочник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532120" y="3246120"/>
            <a:ext cx="6019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C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сразу доступен любому полю типа «Справочник» в любой услуге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846320" y="3977640"/>
            <a:ext cx="502920" cy="502920"/>
          </a:xfrm>
          <a:prstGeom prst="ellipse">
            <a:avLst/>
          </a:prstGeom>
          <a:solidFill>
            <a:srgbClr val="0B3D9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7079" y="4108399"/>
            <a:ext cx="241402" cy="24140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32120" y="3950208"/>
            <a:ext cx="6019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роль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532120" y="4251960"/>
            <a:ext cx="6019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C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новое значение enum, без переписывания страниц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4846320" y="4983480"/>
            <a:ext cx="502920" cy="502920"/>
          </a:xfrm>
          <a:prstGeom prst="ellipse">
            <a:avLst/>
          </a:prstGeom>
          <a:solidFill>
            <a:srgbClr val="0B3D91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7079" y="5114239"/>
            <a:ext cx="241402" cy="24140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532120" y="4956048"/>
            <a:ext cx="6019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интеграция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5532120" y="5257800"/>
            <a:ext cx="6019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C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подключается точечно через единый интеграционный слой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ЕППБ  ·  AstanaHub 2026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 чек-листу конкурса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обязательные MVP-компоненты представлены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65760" cy="365760"/>
          </a:xfrm>
          <a:prstGeom prst="ellipse">
            <a:avLst/>
          </a:prstGeom>
          <a:solidFill>
            <a:srgbClr val="0B3D9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969618"/>
            <a:ext cx="175565" cy="1755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83794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административного конструктора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537960" y="1874520"/>
            <a:ext cx="365760" cy="365760"/>
          </a:xfrm>
          <a:prstGeom prst="ellipse">
            <a:avLst/>
          </a:prstGeom>
          <a:solidFill>
            <a:srgbClr val="0B3D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058" y="1969618"/>
            <a:ext cx="175565" cy="1755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40880" y="183794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Краткое описание архитектурного подхода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40080" y="2587752"/>
            <a:ext cx="365760" cy="365760"/>
          </a:xfrm>
          <a:prstGeom prst="ellipse">
            <a:avLst/>
          </a:prstGeom>
          <a:solidFill>
            <a:srgbClr val="0B3D9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2682850"/>
            <a:ext cx="175565" cy="17556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255117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главной страницы портала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537960" y="2587752"/>
            <a:ext cx="365760" cy="365760"/>
          </a:xfrm>
          <a:prstGeom prst="ellipse">
            <a:avLst/>
          </a:prstGeom>
          <a:solidFill>
            <a:srgbClr val="0B3D91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058" y="2682850"/>
            <a:ext cx="175565" cy="17556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40880" y="255117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с полезными материалами и инструментами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640080" y="3300984"/>
            <a:ext cx="365760" cy="365760"/>
          </a:xfrm>
          <a:prstGeom prst="ellipse">
            <a:avLst/>
          </a:prstGeom>
          <a:solidFill>
            <a:srgbClr val="0B3D91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78" y="3396082"/>
            <a:ext cx="175565" cy="17556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43000" y="32644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клиентского пути подачи заявки</a:t>
            </a:r>
            <a:endParaRPr lang="en-US" sz="1350" dirty="0"/>
          </a:p>
        </p:txBody>
      </p:sp>
      <p:sp>
        <p:nvSpPr>
          <p:cNvPr id="19" name="Shape 12"/>
          <p:cNvSpPr/>
          <p:nvPr/>
        </p:nvSpPr>
        <p:spPr>
          <a:xfrm>
            <a:off x="6537960" y="3300984"/>
            <a:ext cx="365760" cy="365760"/>
          </a:xfrm>
          <a:prstGeom prst="ellipse">
            <a:avLst/>
          </a:prstGeom>
          <a:solidFill>
            <a:srgbClr val="0B3D91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3058" y="3396082"/>
            <a:ext cx="175565" cy="17556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040880" y="32644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карточки услуги</a:t>
            </a:r>
            <a:endParaRPr lang="en-US" sz="1350" dirty="0"/>
          </a:p>
        </p:txBody>
      </p:sp>
      <p:sp>
        <p:nvSpPr>
          <p:cNvPr id="22" name="Shape 14"/>
          <p:cNvSpPr/>
          <p:nvPr/>
        </p:nvSpPr>
        <p:spPr>
          <a:xfrm>
            <a:off x="640080" y="4014216"/>
            <a:ext cx="365760" cy="365760"/>
          </a:xfrm>
          <a:prstGeom prst="ellipse">
            <a:avLst/>
          </a:prstGeom>
          <a:solidFill>
            <a:srgbClr val="0B3D91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178" y="4109314"/>
            <a:ext cx="175565" cy="17556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143000" y="39776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личного кабинета</a:t>
            </a:r>
            <a:endParaRPr lang="en-US" sz="1350" dirty="0"/>
          </a:p>
        </p:txBody>
      </p:sp>
      <p:sp>
        <p:nvSpPr>
          <p:cNvPr id="25" name="Shape 16"/>
          <p:cNvSpPr/>
          <p:nvPr/>
        </p:nvSpPr>
        <p:spPr>
          <a:xfrm>
            <a:off x="6537960" y="4014216"/>
            <a:ext cx="365760" cy="365760"/>
          </a:xfrm>
          <a:prstGeom prst="ellipse">
            <a:avLst/>
          </a:prstGeom>
          <a:solidFill>
            <a:srgbClr val="0B3D91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3058" y="4109314"/>
            <a:ext cx="175565" cy="175565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040880" y="39776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встроенного AI-компонента</a:t>
            </a:r>
            <a:endParaRPr lang="en-US" sz="1350" dirty="0"/>
          </a:p>
        </p:txBody>
      </p:sp>
      <p:sp>
        <p:nvSpPr>
          <p:cNvPr id="28" name="Shape 18"/>
          <p:cNvSpPr/>
          <p:nvPr/>
        </p:nvSpPr>
        <p:spPr>
          <a:xfrm>
            <a:off x="640080" y="4727448"/>
            <a:ext cx="365760" cy="365760"/>
          </a:xfrm>
          <a:prstGeom prst="ellipse">
            <a:avLst/>
          </a:prstGeom>
          <a:solidFill>
            <a:srgbClr val="0B3D91"/>
          </a:solidFill>
          <a:ln/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178" y="4822546"/>
            <a:ext cx="175565" cy="175565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1143000" y="469087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модуля аналитической отчетности ДО</a:t>
            </a:r>
            <a:endParaRPr lang="en-US" sz="1350" dirty="0"/>
          </a:p>
        </p:txBody>
      </p:sp>
      <p:sp>
        <p:nvSpPr>
          <p:cNvPr id="31" name="Shape 20"/>
          <p:cNvSpPr/>
          <p:nvPr/>
        </p:nvSpPr>
        <p:spPr>
          <a:xfrm>
            <a:off x="6537960" y="4727448"/>
            <a:ext cx="365760" cy="365760"/>
          </a:xfrm>
          <a:prstGeom prst="ellipse">
            <a:avLst/>
          </a:prstGeom>
          <a:solidFill>
            <a:srgbClr val="0B3D91"/>
          </a:solidFill>
          <a:ln/>
        </p:spPr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33058" y="4822546"/>
            <a:ext cx="175565" cy="175565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7040880" y="469087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интерактивной карты проектов</a:t>
            </a:r>
            <a:endParaRPr lang="en-US" sz="1350" dirty="0"/>
          </a:p>
        </p:txBody>
      </p:sp>
      <p:sp>
        <p:nvSpPr>
          <p:cNvPr id="34" name="Shape 22"/>
          <p:cNvSpPr/>
          <p:nvPr/>
        </p:nvSpPr>
        <p:spPr>
          <a:xfrm>
            <a:off x="640080" y="5440680"/>
            <a:ext cx="365760" cy="365760"/>
          </a:xfrm>
          <a:prstGeom prst="ellipse">
            <a:avLst/>
          </a:prstGeom>
          <a:solidFill>
            <a:srgbClr val="0B3D91"/>
          </a:solidFill>
          <a:ln/>
        </p:spPr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5178" y="5535778"/>
            <a:ext cx="175565" cy="175565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1143000" y="540410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интеграционного взаимодействия (mock)</a:t>
            </a:r>
            <a:endParaRPr lang="en-US" sz="1350" dirty="0"/>
          </a:p>
        </p:txBody>
      </p:sp>
      <p:sp>
        <p:nvSpPr>
          <p:cNvPr id="37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ЕППБ  ·  AstanaHub 2026</a:t>
            </a:r>
            <a:endParaRPr lang="en-US" sz="1000" dirty="0"/>
          </a:p>
        </p:txBody>
      </p:sp>
      <p:sp>
        <p:nvSpPr>
          <p:cNvPr id="38" name="Text 2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2A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029200" cy="502920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731520"/>
            <a:ext cx="640080" cy="64008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897941"/>
            <a:ext cx="307238" cy="3072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готов к демонстрации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2011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портал поддержки бизнеса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26060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Полностью собран через универсальный конструктор — готов к масштабированию на весь портфель мер поддержки Холдинга и его дочерних организаций.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0B3D9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" y="3971239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822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Исходный код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32588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github.com/RoomiestThunder/eppb-portal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754880"/>
            <a:ext cx="502920" cy="502920"/>
          </a:xfrm>
          <a:prstGeom prst="ellipse">
            <a:avLst/>
          </a:prstGeom>
          <a:solidFill>
            <a:srgbClr val="0B3D9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4885639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736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Живая ссылка на MVP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325880" y="5029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указывается после деплоя командой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ЕППБ  ·  AstanaHub 2026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ЕППБ — Единый портал поддержки бизнеса</dc:title>
  <dc:subject>Конкурс AstanaHub 2026 — питч-презентация MVP</dc:subject>
  <dc:creator>AO NUH Baiterek</dc:creator>
  <cp:lastModifiedBy>AO NUH Baiterek</cp:lastModifiedBy>
  <cp:revision>1</cp:revision>
  <dcterms:created xsi:type="dcterms:W3CDTF">2026-07-06T18:55:43Z</dcterms:created>
  <dcterms:modified xsi:type="dcterms:W3CDTF">2026-07-06T18:55:43Z</dcterms:modified>
</cp:coreProperties>
</file>